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784080" y="502920"/>
            <a:ext cx="1280160" cy="1280160"/>
          </a:xfrm>
          <a:prstGeom prst="ellipse">
            <a:avLst/>
          </a:prstGeom>
          <a:solidFill>
            <a:srgbClr val="276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561320" y="1097280"/>
            <a:ext cx="640080" cy="640080"/>
          </a:xfrm>
          <a:prstGeom prst="ellipse">
            <a:avLst/>
          </a:prstGeom>
          <a:solidFill>
            <a:srgbClr val="30C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966960" y="5212080"/>
            <a:ext cx="1737360" cy="1737360"/>
          </a:xfrm>
          <a:prstGeom prst="ellipse">
            <a:avLst/>
          </a:prstGeom>
          <a:solidFill>
            <a:srgbClr val="192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96012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0CDDC"/>
                </a:solidFill>
                <a:latin typeface="Aptos"/>
              </a:rPr>
              <a:t>INTERNSHIP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17320"/>
            <a:ext cx="91440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>
                <a:solidFill>
                  <a:srgbClr val="F8FAFC"/>
                </a:solidFill>
                <a:latin typeface="Aptos"/>
              </a:rPr>
              <a:t>SpamShield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331720"/>
            <a:ext cx="969264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ABB8CD"/>
                </a:solidFill>
                <a:latin typeface="Aptos"/>
              </a:rPr>
              <a:t>Email Spam Classification and
Synthetic Email Generation Using NLP and T5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3977639"/>
            <a:ext cx="4206240" cy="1051560"/>
          </a:xfrm>
          <a:prstGeom prst="roundRect">
            <a:avLst/>
          </a:prstGeom>
          <a:solidFill>
            <a:srgbClr val="192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251960"/>
            <a:ext cx="374903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Aptos"/>
              </a:rPr>
              <a:t>NLP  •  Generative AI  •  Streamlit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989320"/>
            <a:ext cx="6217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ABB8CD"/>
                </a:solidFill>
                <a:latin typeface="Aptos"/>
              </a:rPr>
              <a:t>End-to-end workflow: generation → augmentation → classification → evaluation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510528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BB8CD"/>
                </a:solidFill>
                <a:latin typeface="Aptos"/>
              </a:rPr>
              <a:t>SpamShield • Internship Project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510528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ABB8CD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0CDDC"/>
                </a:solidFill>
                <a:latin typeface="Aptos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246888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" y="804672"/>
            <a:ext cx="10241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BB8CD"/>
                </a:solidFill>
                <a:latin typeface="Aptos"/>
              </a:rPr>
              <a:t>Why email spam classification matters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115568"/>
            <a:ext cx="1005840" cy="45720"/>
          </a:xfrm>
          <a:prstGeom prst="rect">
            <a:avLst/>
          </a:prstGeom>
          <a:solidFill>
            <a:srgbClr val="276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508760"/>
            <a:ext cx="6766560" cy="4389120"/>
          </a:xfrm>
          <a:prstGeom prst="roundRect">
            <a:avLst/>
          </a:prstGeom>
          <a:solidFill>
            <a:srgbClr val="192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6126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F8FAFC"/>
                </a:solidFill>
                <a:latin typeface="Aptos"/>
              </a:defRPr>
            </a:pPr>
            <a:r>
              <a:t>• Email spam is a common and practical NLP classification problem.</a:t>
            </a:r>
          </a:p>
          <a:p>
            <a:pPr>
              <a:spcAft>
                <a:spcPts val="900"/>
              </a:spcAft>
              <a:defRPr sz="1800">
                <a:solidFill>
                  <a:srgbClr val="F8FAFC"/>
                </a:solidFill>
                <a:latin typeface="Aptos"/>
              </a:defRPr>
            </a:pPr>
            <a:r>
              <a:t>• The system must distinguish unwanted spam from legitimate (ham) emails.</a:t>
            </a:r>
          </a:p>
          <a:p>
            <a:pPr>
              <a:spcAft>
                <a:spcPts val="900"/>
              </a:spcAft>
              <a:defRPr sz="1800">
                <a:solidFill>
                  <a:srgbClr val="F8FAFC"/>
                </a:solidFill>
                <a:latin typeface="Aptos"/>
              </a:defRPr>
            </a:pPr>
            <a:r>
              <a:t>• Generative AI can be explored to create synthetic email examples.</a:t>
            </a:r>
          </a:p>
          <a:p>
            <a:pPr>
              <a:spcAft>
                <a:spcPts val="900"/>
              </a:spcAft>
              <a:defRPr sz="1800">
                <a:solidFill>
                  <a:srgbClr val="F8FAFC"/>
                </a:solidFill>
                <a:latin typeface="Aptos"/>
              </a:defRPr>
            </a:pPr>
            <a:r>
              <a:t>• A reliable workflow should combine preprocessing, modeling, evaluation, and an accessible application.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26679" y="1508760"/>
            <a:ext cx="3794760" cy="4389120"/>
          </a:xfrm>
          <a:prstGeom prst="roundRect">
            <a:avLst/>
          </a:prstGeom>
          <a:solidFill>
            <a:srgbClr val="276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92440" y="1828800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0CDDC"/>
                </a:solidFill>
                <a:latin typeface="Aptos"/>
              </a:rPr>
              <a:t>CORE CHALLENGE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2377440"/>
            <a:ext cx="297180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Aptos"/>
              </a:rPr>
              <a:t>Can NLP
separate
SPAM from HAM?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2440" y="4160520"/>
            <a:ext cx="27432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8FAFC"/>
                </a:solidFill>
                <a:latin typeface="Aptos"/>
              </a:rPr>
              <a:t>while exploring synthetic data generation with T5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0CDDC"/>
                </a:solidFill>
                <a:latin typeface="Aptos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246888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" y="804672"/>
            <a:ext cx="10241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BB8CD"/>
                </a:solidFill>
                <a:latin typeface="Aptos"/>
              </a:rPr>
              <a:t>What the project is designed to accomplish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115568"/>
            <a:ext cx="1005840" cy="45720"/>
          </a:xfrm>
          <a:prstGeom prst="rect">
            <a:avLst/>
          </a:prstGeom>
          <a:solidFill>
            <a:srgbClr val="276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463040"/>
            <a:ext cx="3429000" cy="1783080"/>
          </a:xfrm>
          <a:prstGeom prst="roundRect">
            <a:avLst/>
          </a:prstGeom>
          <a:solidFill>
            <a:srgbClr val="192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64208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0CDDC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084832"/>
            <a:ext cx="28346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8FAFC"/>
                </a:solidFill>
                <a:latin typeface="Aptos"/>
              </a:rPr>
              <a:t>Analyze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514600"/>
            <a:ext cx="2880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BB8CD"/>
                </a:solidFill>
                <a:latin typeface="Aptos"/>
              </a:rPr>
              <a:t>Understand the email dataset and labels.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463040"/>
            <a:ext cx="3429000" cy="1783080"/>
          </a:xfrm>
          <a:prstGeom prst="roundRect">
            <a:avLst/>
          </a:prstGeom>
          <a:solidFill>
            <a:srgbClr val="192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1664208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0CDDC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084832"/>
            <a:ext cx="28346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8FAFC"/>
                </a:solidFill>
                <a:latin typeface="Aptos"/>
              </a:rPr>
              <a:t>Classify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514600"/>
            <a:ext cx="2880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BB8CD"/>
                </a:solidFill>
                <a:latin typeface="Aptos"/>
              </a:rPr>
              <a:t>Build a spam/ham classifier.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1463040"/>
            <a:ext cx="3429000" cy="1783080"/>
          </a:xfrm>
          <a:prstGeom prst="roundRect">
            <a:avLst/>
          </a:prstGeom>
          <a:solidFill>
            <a:srgbClr val="192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58200" y="1664208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0CDDC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2084832"/>
            <a:ext cx="28346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8FAFC"/>
                </a:solidFill>
                <a:latin typeface="Aptos"/>
              </a:rPr>
              <a:t>Generate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514600"/>
            <a:ext cx="2880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BB8CD"/>
                </a:solidFill>
                <a:latin typeface="Aptos"/>
              </a:rPr>
              <a:t>Create synthetic emails using T5.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703320"/>
            <a:ext cx="3429000" cy="1783080"/>
          </a:xfrm>
          <a:prstGeom prst="roundRect">
            <a:avLst/>
          </a:prstGeom>
          <a:solidFill>
            <a:srgbClr val="192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3904488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0CDDC"/>
                </a:solidFill>
                <a:latin typeface="Aptos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325112"/>
            <a:ext cx="28346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8FAFC"/>
                </a:solidFill>
                <a:latin typeface="Aptos"/>
              </a:rPr>
              <a:t>Augment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4754880"/>
            <a:ext cx="2880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BB8CD"/>
                </a:solidFill>
                <a:latin typeface="Aptos"/>
              </a:rPr>
              <a:t>Explore synthetic data as training support.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34840" y="3703320"/>
            <a:ext cx="3429000" cy="1783080"/>
          </a:xfrm>
          <a:prstGeom prst="roundRect">
            <a:avLst/>
          </a:prstGeom>
          <a:solidFill>
            <a:srgbClr val="192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63440" y="3904488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0CDDC"/>
                </a:solidFill>
                <a:latin typeface="Aptos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4325112"/>
            <a:ext cx="28346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8FAFC"/>
                </a:solidFill>
                <a:latin typeface="Aptos"/>
              </a:rPr>
              <a:t>Evaluate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3440" y="4754880"/>
            <a:ext cx="2880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BB8CD"/>
                </a:solidFill>
                <a:latin typeface="Aptos"/>
              </a:rPr>
              <a:t>Measure classification performance.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0" y="3703320"/>
            <a:ext cx="3429000" cy="1783080"/>
          </a:xfrm>
          <a:prstGeom prst="roundRect">
            <a:avLst/>
          </a:prstGeom>
          <a:solidFill>
            <a:srgbClr val="192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58200" y="3904488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0CDDC"/>
                </a:solidFill>
                <a:latin typeface="Aptos"/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58200" y="4325112"/>
            <a:ext cx="28346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8FAFC"/>
                </a:solidFill>
                <a:latin typeface="Aptos"/>
              </a:rPr>
              <a:t>Deploy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58200" y="4754880"/>
            <a:ext cx="2880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BB8CD"/>
                </a:solidFill>
                <a:latin typeface="Aptos"/>
              </a:rPr>
              <a:t>Build a usable Streamlit application.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0CDDC"/>
                </a:solidFill>
                <a:latin typeface="Aptos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246888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Dataset &amp; Preprocessing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" y="804672"/>
            <a:ext cx="10241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BB8CD"/>
                </a:solidFill>
                <a:latin typeface="Aptos"/>
              </a:rPr>
              <a:t>From raw email text to machine-readable features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115568"/>
            <a:ext cx="1005840" cy="45720"/>
          </a:xfrm>
          <a:prstGeom prst="rect">
            <a:avLst/>
          </a:prstGeom>
          <a:solidFill>
            <a:srgbClr val="276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828800"/>
            <a:ext cx="1920240" cy="1417320"/>
          </a:xfrm>
          <a:prstGeom prst="roundRect">
            <a:avLst/>
          </a:prstGeom>
          <a:solidFill>
            <a:srgbClr val="192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2057400"/>
            <a:ext cx="1600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30CDDC"/>
                </a:solidFill>
                <a:latin typeface="Aptos"/>
              </a:rPr>
              <a:t>EMAIL TEXT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2542032"/>
            <a:ext cx="16002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8FAFC"/>
                </a:solidFill>
                <a:latin typeface="Aptos"/>
              </a:rPr>
              <a:t>Raw messages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41448" y="2304288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2769FF"/>
                </a:solidFill>
                <a:latin typeface="Apto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34639" y="1828800"/>
            <a:ext cx="1920240" cy="1417320"/>
          </a:xfrm>
          <a:prstGeom prst="roundRect">
            <a:avLst/>
          </a:prstGeom>
          <a:solidFill>
            <a:srgbClr val="192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99232" y="2057400"/>
            <a:ext cx="1600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30CDDC"/>
                </a:solidFill>
                <a:latin typeface="Aptos"/>
              </a:rPr>
              <a:t>LABELS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99232" y="2542032"/>
            <a:ext cx="16002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8FAFC"/>
                </a:solidFill>
                <a:latin typeface="Aptos"/>
              </a:rPr>
              <a:t>Spam / Ham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73168" y="2304288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2769FF"/>
                </a:solidFill>
                <a:latin typeface="Aptos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66359" y="1828800"/>
            <a:ext cx="1920240" cy="1417320"/>
          </a:xfrm>
          <a:prstGeom prst="roundRect">
            <a:avLst/>
          </a:prstGeom>
          <a:solidFill>
            <a:srgbClr val="192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30951" y="2057400"/>
            <a:ext cx="1600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30CDDC"/>
                </a:solidFill>
                <a:latin typeface="Aptos"/>
              </a:rPr>
              <a:t>PREPROCESS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30951" y="2542032"/>
            <a:ext cx="16002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8FAFC"/>
                </a:solidFill>
                <a:latin typeface="Aptos"/>
              </a:rPr>
              <a:t>Clean text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04888" y="2304288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2769FF"/>
                </a:solidFill>
                <a:latin typeface="Aptos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79" y="1828800"/>
            <a:ext cx="1920240" cy="1417320"/>
          </a:xfrm>
          <a:prstGeom prst="roundRect">
            <a:avLst/>
          </a:prstGeom>
          <a:solidFill>
            <a:srgbClr val="192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62671" y="2057400"/>
            <a:ext cx="1600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30CDDC"/>
                </a:solidFill>
                <a:latin typeface="Aptos"/>
              </a:rPr>
              <a:t>TF-IDF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62671" y="2542032"/>
            <a:ext cx="16002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8FAFC"/>
                </a:solidFill>
                <a:latin typeface="Aptos"/>
              </a:rPr>
              <a:t>Feature representation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36608" y="2304288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2769FF"/>
                </a:solidFill>
                <a:latin typeface="Aptos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829800" y="1828800"/>
            <a:ext cx="1920240" cy="1417320"/>
          </a:xfrm>
          <a:prstGeom prst="roundRect">
            <a:avLst/>
          </a:prstGeom>
          <a:solidFill>
            <a:srgbClr val="192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994392" y="2057400"/>
            <a:ext cx="1600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30CDDC"/>
                </a:solidFill>
                <a:latin typeface="Aptos"/>
              </a:rPr>
              <a:t>SPLIT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94392" y="2542032"/>
            <a:ext cx="16002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8FAFC"/>
                </a:solidFill>
                <a:latin typeface="Aptos"/>
              </a:rPr>
              <a:t>Train / test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240" y="3886200"/>
            <a:ext cx="10607040" cy="1417320"/>
          </a:xfrm>
          <a:prstGeom prst="roundRect">
            <a:avLst/>
          </a:prstGeom>
          <a:solidFill>
            <a:srgbClr val="192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51560" y="4160520"/>
            <a:ext cx="1920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0CDDC"/>
                </a:solidFill>
                <a:latin typeface="Aptos"/>
              </a:rPr>
              <a:t>INPUT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0" y="4096512"/>
            <a:ext cx="8046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Aptos"/>
              </a:rPr>
              <a:t>Email text + spam/ham labels → cleaned text → TF-IDF vectors for classification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0CDDC"/>
                </a:solidFill>
                <a:latin typeface="Aptos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246888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Proposed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" y="804672"/>
            <a:ext cx="10241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BB8CD"/>
                </a:solidFill>
                <a:latin typeface="Aptos"/>
              </a:rPr>
              <a:t>End-to-end project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115568"/>
            <a:ext cx="1005840" cy="45720"/>
          </a:xfrm>
          <a:prstGeom prst="rect">
            <a:avLst/>
          </a:prstGeom>
          <a:solidFill>
            <a:srgbClr val="276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2057400"/>
            <a:ext cx="1188720" cy="1234440"/>
          </a:xfrm>
          <a:prstGeom prst="roundRect">
            <a:avLst/>
          </a:prstGeom>
          <a:solidFill>
            <a:srgbClr val="192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72" y="2350008"/>
            <a:ext cx="1042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20" b="1">
                <a:solidFill>
                  <a:srgbClr val="F8FAFC"/>
                </a:solidFill>
                <a:latin typeface="Aptos"/>
              </a:rPr>
              <a:t>Email Dataset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73352" y="2487168"/>
            <a:ext cx="228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30CDDC"/>
                </a:solidFill>
                <a:latin typeface="Aptos"/>
              </a:rPr>
              <a:t>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956816" y="2057400"/>
            <a:ext cx="1188720" cy="1234440"/>
          </a:xfrm>
          <a:prstGeom prst="roundRect">
            <a:avLst/>
          </a:prstGeom>
          <a:solidFill>
            <a:srgbClr val="192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29968" y="2350008"/>
            <a:ext cx="1042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20" b="1">
                <a:solidFill>
                  <a:srgbClr val="F8FAFC"/>
                </a:solidFill>
                <a:latin typeface="Aptos"/>
              </a:rPr>
              <a:t>Preprocessing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27248" y="2487168"/>
            <a:ext cx="228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30CDDC"/>
                </a:solidFill>
                <a:latin typeface="Aptos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10712" y="2057400"/>
            <a:ext cx="1188720" cy="1234440"/>
          </a:xfrm>
          <a:prstGeom prst="roundRect">
            <a:avLst/>
          </a:prstGeom>
          <a:solidFill>
            <a:srgbClr val="276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83864" y="2350008"/>
            <a:ext cx="1042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20" b="1">
                <a:solidFill>
                  <a:srgbClr val="F8FAFC"/>
                </a:solidFill>
                <a:latin typeface="Aptos"/>
              </a:rPr>
              <a:t>T5 Synthetic
Generation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81144" y="2487168"/>
            <a:ext cx="228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30CDDC"/>
                </a:solidFill>
                <a:latin typeface="Aptos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64608" y="2057400"/>
            <a:ext cx="1188720" cy="1234440"/>
          </a:xfrm>
          <a:prstGeom prst="roundRect">
            <a:avLst/>
          </a:prstGeom>
          <a:solidFill>
            <a:srgbClr val="192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37760" y="2350008"/>
            <a:ext cx="1042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20" b="1">
                <a:solidFill>
                  <a:srgbClr val="F8FAFC"/>
                </a:solidFill>
                <a:latin typeface="Aptos"/>
              </a:rPr>
              <a:t>Data
Augmentation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0" y="2487168"/>
            <a:ext cx="228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30CDDC"/>
                </a:solidFill>
                <a:latin typeface="Aptos"/>
              </a:rP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18504" y="2057400"/>
            <a:ext cx="1188720" cy="1234440"/>
          </a:xfrm>
          <a:prstGeom prst="roundRect">
            <a:avLst/>
          </a:prstGeom>
          <a:solidFill>
            <a:srgbClr val="192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91656" y="2350008"/>
            <a:ext cx="1042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20" b="1">
                <a:solidFill>
                  <a:srgbClr val="F8FAFC"/>
                </a:solidFill>
                <a:latin typeface="Aptos"/>
              </a:rPr>
              <a:t>TF-IDF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88936" y="2487168"/>
            <a:ext cx="228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30CDDC"/>
                </a:solidFill>
                <a:latin typeface="Aptos"/>
              </a:rPr>
              <a:t>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0" y="2057400"/>
            <a:ext cx="1188720" cy="1234440"/>
          </a:xfrm>
          <a:prstGeom prst="roundRect">
            <a:avLst/>
          </a:prstGeom>
          <a:solidFill>
            <a:srgbClr val="192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45552" y="2350008"/>
            <a:ext cx="1042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20" b="1">
                <a:solidFill>
                  <a:srgbClr val="F8FAFC"/>
                </a:solidFill>
                <a:latin typeface="Aptos"/>
              </a:rPr>
              <a:t>Logistic
Regression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42832" y="2487168"/>
            <a:ext cx="228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30CDDC"/>
                </a:solidFill>
                <a:latin typeface="Aptos"/>
              </a:rPr>
              <a:t>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226296" y="2057400"/>
            <a:ext cx="1188720" cy="1234440"/>
          </a:xfrm>
          <a:prstGeom prst="roundRect">
            <a:avLst/>
          </a:prstGeom>
          <a:solidFill>
            <a:srgbClr val="276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99448" y="2350008"/>
            <a:ext cx="1042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20" b="1">
                <a:solidFill>
                  <a:srgbClr val="F8FAFC"/>
                </a:solidFill>
                <a:latin typeface="Aptos"/>
              </a:rPr>
              <a:t>Spam / Ham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96728" y="2487168"/>
            <a:ext cx="228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30CDDC"/>
                </a:solidFill>
                <a:latin typeface="Aptos"/>
              </a:rPr>
              <a:t>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680192" y="2057400"/>
            <a:ext cx="1188720" cy="1234440"/>
          </a:xfrm>
          <a:prstGeom prst="roundRect">
            <a:avLst/>
          </a:prstGeom>
          <a:solidFill>
            <a:srgbClr val="192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753344" y="2350008"/>
            <a:ext cx="1042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20" b="1">
                <a:solidFill>
                  <a:srgbClr val="F8FAFC"/>
                </a:solidFill>
                <a:latin typeface="Aptos"/>
              </a:rPr>
              <a:t>Evaluation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20240" y="3977639"/>
            <a:ext cx="8321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ABB8CD"/>
                </a:solidFill>
                <a:latin typeface="Aptos"/>
              </a:rPr>
              <a:t>Real data → synthetic-data exploration → feature extraction → binary classification → measured performance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0CDDC"/>
                </a:solidFill>
                <a:latin typeface="Aptos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246888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Generative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" y="804672"/>
            <a:ext cx="10241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BB8CD"/>
                </a:solidFill>
                <a:latin typeface="Aptos"/>
              </a:rPr>
              <a:t>T5-based synthetic email generation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115568"/>
            <a:ext cx="1005840" cy="45720"/>
          </a:xfrm>
          <a:prstGeom prst="rect">
            <a:avLst/>
          </a:prstGeom>
          <a:solidFill>
            <a:srgbClr val="276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508760"/>
            <a:ext cx="4754880" cy="4389120"/>
          </a:xfrm>
          <a:prstGeom prst="roundRect">
            <a:avLst/>
          </a:prstGeom>
          <a:solidFill>
            <a:srgbClr val="276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874519"/>
            <a:ext cx="4023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1">
                <a:solidFill>
                  <a:srgbClr val="F8FAFC"/>
                </a:solidFill>
                <a:latin typeface="Aptos"/>
              </a:rPr>
              <a:t>T5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487168"/>
            <a:ext cx="4023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F8FAFC"/>
                </a:solidFill>
                <a:latin typeface="Aptos"/>
              </a:rPr>
              <a:t>Text-to-Text
Transfer Transformer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429000"/>
            <a:ext cx="40233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F8FAFC"/>
                </a:solidFill>
                <a:latin typeface="Aptos"/>
              </a:rPr>
              <a:t>Used to explore generation of synthetic email examples that can supplement real training data.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06440" y="1508760"/>
            <a:ext cx="5440680" cy="4389120"/>
          </a:xfrm>
          <a:prstGeom prst="roundRect">
            <a:avLst/>
          </a:prstGeom>
          <a:solidFill>
            <a:srgbClr val="192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72200" y="1828800"/>
            <a:ext cx="46634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F8FAFC"/>
                </a:solidFill>
                <a:latin typeface="Aptos"/>
              </a:defRPr>
            </a:pPr>
            <a:r>
              <a:t>• Generate synthetic email text.</a:t>
            </a:r>
          </a:p>
          <a:p>
            <a:pPr>
              <a:spcAft>
                <a:spcPts val="900"/>
              </a:spcAft>
              <a:defRPr sz="1700">
                <a:solidFill>
                  <a:srgbClr val="F8FAFC"/>
                </a:solidFill>
                <a:latin typeface="Aptos"/>
              </a:defRPr>
            </a:pPr>
            <a:r>
              <a:t>• Use generated examples for data augmentation experiments.</a:t>
            </a:r>
          </a:p>
          <a:p>
            <a:pPr>
              <a:spcAft>
                <a:spcPts val="900"/>
              </a:spcAft>
              <a:defRPr sz="1700">
                <a:solidFill>
                  <a:srgbClr val="F8FAFC"/>
                </a:solidFill>
                <a:latin typeface="Aptos"/>
              </a:defRPr>
            </a:pPr>
            <a:r>
              <a:t>• Compare generated content against real examples.</a:t>
            </a:r>
          </a:p>
          <a:p>
            <a:pPr>
              <a:spcAft>
                <a:spcPts val="900"/>
              </a:spcAft>
              <a:defRPr sz="1700">
                <a:solidFill>
                  <a:srgbClr val="F8FAFC"/>
                </a:solidFill>
                <a:latin typeface="Aptos"/>
              </a:defRPr>
            </a:pPr>
            <a:r>
              <a:t>• Validate quality before relying on synthetic data.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0CDDC"/>
                </a:solidFill>
                <a:latin typeface="Aptos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246888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Classification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" y="804672"/>
            <a:ext cx="10241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BB8CD"/>
                </a:solidFill>
                <a:latin typeface="Aptos"/>
              </a:rPr>
              <a:t>TF-IDF + Logistic Regression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115568"/>
            <a:ext cx="1005840" cy="45720"/>
          </a:xfrm>
          <a:prstGeom prst="rect">
            <a:avLst/>
          </a:prstGeom>
          <a:solidFill>
            <a:srgbClr val="276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508760"/>
            <a:ext cx="3154680" cy="4389120"/>
          </a:xfrm>
          <a:prstGeom prst="roundRect">
            <a:avLst/>
          </a:prstGeom>
          <a:solidFill>
            <a:srgbClr val="192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74519"/>
            <a:ext cx="2514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30CDDC"/>
                </a:solidFill>
                <a:latin typeface="Aptos"/>
              </a:rPr>
              <a:t>TF-IDF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560320"/>
            <a:ext cx="26060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F8FAFC"/>
                </a:solidFill>
                <a:latin typeface="Aptos"/>
              </a:rPr>
              <a:t>Converts email text into numerical features based on term importance.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508760"/>
            <a:ext cx="3154680" cy="4389120"/>
          </a:xfrm>
          <a:prstGeom prst="roundRect">
            <a:avLst/>
          </a:prstGeom>
          <a:solidFill>
            <a:srgbClr val="192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0" y="1874519"/>
            <a:ext cx="2514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100" b="1">
                <a:solidFill>
                  <a:srgbClr val="30CDDC"/>
                </a:solidFill>
                <a:latin typeface="Aptos"/>
              </a:rPr>
              <a:t>LOGISTIC
REGRESSION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600" y="2606040"/>
            <a:ext cx="26060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F8FAFC"/>
                </a:solidFill>
                <a:latin typeface="Aptos"/>
              </a:rPr>
              <a:t>Learns a binary decision boundary for spam vs. ham.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66760" y="1508760"/>
            <a:ext cx="3154680" cy="4389120"/>
          </a:xfrm>
          <a:prstGeom prst="roundRect">
            <a:avLst/>
          </a:prstGeom>
          <a:solidFill>
            <a:srgbClr val="276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0" y="1874519"/>
            <a:ext cx="2514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8FAFC"/>
                </a:solidFill>
                <a:latin typeface="Aptos"/>
              </a:rPr>
              <a:t>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2606040"/>
            <a:ext cx="2514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F8FAFC"/>
                </a:solidFill>
                <a:latin typeface="Aptos"/>
              </a:rPr>
              <a:t>HAM
or
SPAM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41080" y="4069080"/>
            <a:ext cx="25603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F8FAFC"/>
                </a:solidFill>
                <a:latin typeface="Aptos"/>
              </a:rPr>
              <a:t>Binary classification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0CDDC"/>
                </a:solidFill>
                <a:latin typeface="Aptos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246888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Streamlit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" y="804672"/>
            <a:ext cx="10241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BB8CD"/>
                </a:solidFill>
                <a:latin typeface="Aptos"/>
              </a:rPr>
              <a:t>A simple interface for interacting with the project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115568"/>
            <a:ext cx="1005840" cy="45720"/>
          </a:xfrm>
          <a:prstGeom prst="rect">
            <a:avLst/>
          </a:prstGeom>
          <a:solidFill>
            <a:srgbClr val="276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508760"/>
            <a:ext cx="4983480" cy="1691640"/>
          </a:xfrm>
          <a:prstGeom prst="roundRect">
            <a:avLst/>
          </a:prstGeom>
          <a:solidFill>
            <a:srgbClr val="192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14400" y="1737360"/>
            <a:ext cx="73152" cy="73152"/>
          </a:xfrm>
          <a:prstGeom prst="ellipse">
            <a:avLst/>
          </a:prstGeom>
          <a:solidFill>
            <a:srgbClr val="ABB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78992" y="1737360"/>
            <a:ext cx="73152" cy="73152"/>
          </a:xfrm>
          <a:prstGeom prst="ellipse">
            <a:avLst/>
          </a:prstGeom>
          <a:solidFill>
            <a:srgbClr val="ABB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243584" y="1737360"/>
            <a:ext cx="73152" cy="73152"/>
          </a:xfrm>
          <a:prstGeom prst="ellipse">
            <a:avLst/>
          </a:prstGeom>
          <a:solidFill>
            <a:srgbClr val="ABB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075688"/>
            <a:ext cx="4389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0CDDC"/>
                </a:solidFill>
                <a:latin typeface="Aptos"/>
              </a:rPr>
              <a:t>EMAIL CLASSIFICATION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496312"/>
            <a:ext cx="4389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F8FAFC"/>
                </a:solidFill>
                <a:latin typeface="Aptos"/>
              </a:rPr>
              <a:t>Enter an email → predict Ham / Spam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508760"/>
            <a:ext cx="4983480" cy="1691640"/>
          </a:xfrm>
          <a:prstGeom prst="roundRect">
            <a:avLst/>
          </a:prstGeom>
          <a:solidFill>
            <a:srgbClr val="192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1737360"/>
            <a:ext cx="73152" cy="73152"/>
          </a:xfrm>
          <a:prstGeom prst="ellipse">
            <a:avLst/>
          </a:prstGeom>
          <a:solidFill>
            <a:srgbClr val="ABB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565392" y="1737360"/>
            <a:ext cx="73152" cy="73152"/>
          </a:xfrm>
          <a:prstGeom prst="ellipse">
            <a:avLst/>
          </a:prstGeom>
          <a:solidFill>
            <a:srgbClr val="ABB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729984" y="1737360"/>
            <a:ext cx="73152" cy="73152"/>
          </a:xfrm>
          <a:prstGeom prst="ellipse">
            <a:avLst/>
          </a:prstGeom>
          <a:solidFill>
            <a:srgbClr val="ABB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2075688"/>
            <a:ext cx="4389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0CDDC"/>
                </a:solidFill>
                <a:latin typeface="Aptos"/>
              </a:rPr>
              <a:t>SYNTHETIC GENERATION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496312"/>
            <a:ext cx="4389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F8FAFC"/>
                </a:solidFill>
                <a:latin typeface="Aptos"/>
              </a:rPr>
              <a:t>Generate synthetic email examples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657600"/>
            <a:ext cx="4983480" cy="1691640"/>
          </a:xfrm>
          <a:prstGeom prst="roundRect">
            <a:avLst/>
          </a:prstGeom>
          <a:solidFill>
            <a:srgbClr val="192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14400" y="3886200"/>
            <a:ext cx="73152" cy="73152"/>
          </a:xfrm>
          <a:prstGeom prst="ellipse">
            <a:avLst/>
          </a:prstGeom>
          <a:solidFill>
            <a:srgbClr val="ABB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78992" y="3886200"/>
            <a:ext cx="73152" cy="73152"/>
          </a:xfrm>
          <a:prstGeom prst="ellipse">
            <a:avLst/>
          </a:prstGeom>
          <a:solidFill>
            <a:srgbClr val="ABB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243584" y="3886200"/>
            <a:ext cx="73152" cy="73152"/>
          </a:xfrm>
          <a:prstGeom prst="ellipse">
            <a:avLst/>
          </a:prstGeom>
          <a:solidFill>
            <a:srgbClr val="ABB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224528"/>
            <a:ext cx="4389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0CDDC"/>
                </a:solidFill>
                <a:latin typeface="Aptos"/>
              </a:rPr>
              <a:t>EVALUATION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4645152"/>
            <a:ext cx="4389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F8FAFC"/>
                </a:solidFill>
                <a:latin typeface="Aptos"/>
              </a:rPr>
              <a:t>View model performance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3657600"/>
            <a:ext cx="4983480" cy="1691640"/>
          </a:xfrm>
          <a:prstGeom prst="roundRect">
            <a:avLst/>
          </a:prstGeom>
          <a:solidFill>
            <a:srgbClr val="192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00800" y="3886200"/>
            <a:ext cx="73152" cy="73152"/>
          </a:xfrm>
          <a:prstGeom prst="ellipse">
            <a:avLst/>
          </a:prstGeom>
          <a:solidFill>
            <a:srgbClr val="ABB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565392" y="3886200"/>
            <a:ext cx="73152" cy="73152"/>
          </a:xfrm>
          <a:prstGeom prst="ellipse">
            <a:avLst/>
          </a:prstGeom>
          <a:solidFill>
            <a:srgbClr val="ABB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729984" y="3886200"/>
            <a:ext cx="73152" cy="73152"/>
          </a:xfrm>
          <a:prstGeom prst="ellipse">
            <a:avLst/>
          </a:prstGeom>
          <a:solidFill>
            <a:srgbClr val="ABB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6520" y="4224528"/>
            <a:ext cx="4389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0CDDC"/>
                </a:solidFill>
                <a:latin typeface="Aptos"/>
              </a:rPr>
              <a:t>DATASET PREVIEW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4645152"/>
            <a:ext cx="43891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F8FAFC"/>
                </a:solidFill>
                <a:latin typeface="Aptos"/>
              </a:rPr>
              <a:t>Inspect sample records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5897880"/>
            <a:ext cx="10424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ABB8CD"/>
                </a:solidFill>
                <a:latin typeface="Aptos"/>
              </a:rPr>
              <a:t>Use your actual Streamlit screenshots in these four panels when presenting the project.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0CDDC"/>
                </a:solidFill>
                <a:latin typeface="Aptos"/>
              </a:rP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246888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" y="804672"/>
            <a:ext cx="10241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BB8CD"/>
                </a:solidFill>
                <a:latin typeface="Aptos"/>
              </a:rPr>
              <a:t>Performance on the displayed evaluation set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115568"/>
            <a:ext cx="1005840" cy="45720"/>
          </a:xfrm>
          <a:prstGeom prst="rect">
            <a:avLst/>
          </a:prstGeom>
          <a:solidFill>
            <a:srgbClr val="276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" y="1600200"/>
            <a:ext cx="2423160" cy="2057400"/>
          </a:xfrm>
          <a:prstGeom prst="roundRect">
            <a:avLst/>
          </a:prstGeom>
          <a:solidFill>
            <a:srgbClr val="276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65960"/>
            <a:ext cx="2057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100" b="1">
                <a:solidFill>
                  <a:srgbClr val="F8FAFC"/>
                </a:solidFill>
                <a:latin typeface="Aptos"/>
              </a:rPr>
              <a:t>100%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761488"/>
            <a:ext cx="2057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8FAFC"/>
                </a:solidFill>
                <a:latin typeface="Aptos"/>
              </a:rPr>
              <a:t>Accuracy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79" y="1600200"/>
            <a:ext cx="2423160" cy="2057400"/>
          </a:xfrm>
          <a:prstGeom prst="roundRect">
            <a:avLst/>
          </a:prstGeom>
          <a:solidFill>
            <a:srgbClr val="192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0" y="1965960"/>
            <a:ext cx="2057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100" b="1">
                <a:solidFill>
                  <a:srgbClr val="F8FAFC"/>
                </a:solidFill>
                <a:latin typeface="Aptos"/>
              </a:rPr>
              <a:t>100%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761488"/>
            <a:ext cx="2057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8FAFC"/>
                </a:solidFill>
                <a:latin typeface="Aptos"/>
              </a:rPr>
              <a:t>Precision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600200"/>
            <a:ext cx="2423160" cy="2057400"/>
          </a:xfrm>
          <a:prstGeom prst="roundRect">
            <a:avLst/>
          </a:prstGeom>
          <a:solidFill>
            <a:srgbClr val="192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965960"/>
            <a:ext cx="2057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100" b="1">
                <a:solidFill>
                  <a:srgbClr val="F8FAFC"/>
                </a:solidFill>
                <a:latin typeface="Aptos"/>
              </a:rPr>
              <a:t>100%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2761488"/>
            <a:ext cx="2057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8FAFC"/>
                </a:solidFill>
                <a:latin typeface="Aptos"/>
              </a:rPr>
              <a:t>Recall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61119" y="1600200"/>
            <a:ext cx="2423160" cy="2057400"/>
          </a:xfrm>
          <a:prstGeom prst="roundRect">
            <a:avLst/>
          </a:prstGeom>
          <a:solidFill>
            <a:srgbClr val="192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3999" y="1965960"/>
            <a:ext cx="2057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100" b="1">
                <a:solidFill>
                  <a:srgbClr val="F8FAFC"/>
                </a:solidFill>
                <a:latin typeface="Aptos"/>
              </a:rPr>
              <a:t>100%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3999" y="2761488"/>
            <a:ext cx="2057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8FAFC"/>
                </a:solidFill>
                <a:latin typeface="Aptos"/>
              </a:rPr>
              <a:t>F1-score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325880" y="4069080"/>
            <a:ext cx="9509760" cy="1143000"/>
          </a:xfrm>
          <a:prstGeom prst="roundRect">
            <a:avLst/>
          </a:prstGeom>
          <a:solidFill>
            <a:srgbClr val="192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00200" y="4343400"/>
            <a:ext cx="89611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F8FAFC"/>
                </a:solidFill>
                <a:latin typeface="Aptos"/>
              </a:rPr>
              <a:t>Evaluation set: 60 emails  •  30 ham  +  30 spam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5532120"/>
            <a:ext cx="10149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1">
                <a:solidFill>
                  <a:srgbClr val="F5BE42"/>
                </a:solidFill>
                <a:latin typeface="Aptos"/>
              </a:rPr>
              <a:t>Important: these figures describe the displayed evaluation set only — not real-world accuracy.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0CDDC"/>
                </a:solidFill>
                <a:latin typeface="Aptos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246888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Confusion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" y="804672"/>
            <a:ext cx="10241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BB8CD"/>
                </a:solidFill>
                <a:latin typeface="Aptos"/>
              </a:rPr>
              <a:t>Predictions on the 60-email evaluation set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115568"/>
            <a:ext cx="1005840" cy="45720"/>
          </a:xfrm>
          <a:prstGeom prst="rect">
            <a:avLst/>
          </a:prstGeom>
          <a:solidFill>
            <a:srgbClr val="276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0" y="141732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ABB8CD"/>
                </a:solidFill>
                <a:latin typeface="Aptos"/>
              </a:rPr>
              <a:t>Predicted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37560" y="205740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ABB8CD"/>
                </a:solidFill>
                <a:latin typeface="Aptos"/>
              </a:rPr>
              <a:t>Ham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00600" y="205740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ABB8CD"/>
                </a:solidFill>
                <a:latin typeface="Aptos"/>
              </a:rPr>
              <a:t>Spam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57400" y="306324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ABB8CD"/>
                </a:solidFill>
                <a:latin typeface="Aptos"/>
              </a:rPr>
              <a:t>Actual
Ham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434340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ABB8CD"/>
                </a:solidFill>
                <a:latin typeface="Aptos"/>
              </a:rPr>
              <a:t>Actual
Spam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0" y="2606040"/>
            <a:ext cx="1417320" cy="960120"/>
          </a:xfrm>
          <a:prstGeom prst="roundRect">
            <a:avLst/>
          </a:prstGeom>
          <a:solidFill>
            <a:srgbClr val="3AC4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0" y="2834640"/>
            <a:ext cx="1417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F8FAFC"/>
                </a:solidFill>
                <a:latin typeface="Aptos"/>
              </a:rPr>
              <a:t>30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63440" y="2606040"/>
            <a:ext cx="1417320" cy="960120"/>
          </a:xfrm>
          <a:prstGeom prst="roundRect">
            <a:avLst/>
          </a:prstGeom>
          <a:solidFill>
            <a:srgbClr val="192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3440" y="2834640"/>
            <a:ext cx="1417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F8FAFC"/>
                </a:solidFill>
                <a:latin typeface="Aptos"/>
              </a:rPr>
              <a:t>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00400" y="3886200"/>
            <a:ext cx="1417320" cy="960120"/>
          </a:xfrm>
          <a:prstGeom prst="roundRect">
            <a:avLst/>
          </a:prstGeom>
          <a:solidFill>
            <a:srgbClr val="192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0" y="4114800"/>
            <a:ext cx="1417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F8FAFC"/>
                </a:solidFill>
                <a:latin typeface="Aptos"/>
              </a:rPr>
              <a:t>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63440" y="3886200"/>
            <a:ext cx="1417320" cy="960120"/>
          </a:xfrm>
          <a:prstGeom prst="roundRect">
            <a:avLst/>
          </a:prstGeom>
          <a:solidFill>
            <a:srgbClr val="3AC4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63440" y="4114800"/>
            <a:ext cx="1417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F8FAFC"/>
                </a:solidFill>
                <a:latin typeface="Aptos"/>
              </a:rPr>
              <a:t>30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720840" y="2148840"/>
            <a:ext cx="4206240" cy="3108960"/>
          </a:xfrm>
          <a:prstGeom prst="roundRect">
            <a:avLst/>
          </a:prstGeom>
          <a:solidFill>
            <a:srgbClr val="192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86600" y="2514600"/>
            <a:ext cx="3474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0CDDC"/>
                </a:solidFill>
                <a:latin typeface="Aptos"/>
              </a:rPr>
              <a:t>INTERPRETATION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80" y="3063240"/>
            <a:ext cx="35204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F8FAFC"/>
                </a:solidFill>
                <a:latin typeface="Aptos"/>
              </a:defRPr>
            </a:pPr>
            <a:r>
              <a:t>• 30 ham correctly predicted as ham.</a:t>
            </a:r>
          </a:p>
          <a:p>
            <a:pPr>
              <a:spcAft>
                <a:spcPts val="900"/>
              </a:spcAft>
              <a:defRPr sz="1400">
                <a:solidFill>
                  <a:srgbClr val="F8FAFC"/>
                </a:solidFill>
                <a:latin typeface="Aptos"/>
              </a:defRPr>
            </a:pPr>
            <a:r>
              <a:t>• 30 spam correctly predicted as spam.</a:t>
            </a:r>
          </a:p>
          <a:p>
            <a:pPr>
              <a:spcAft>
                <a:spcPts val="900"/>
              </a:spcAft>
              <a:defRPr sz="1400">
                <a:solidFill>
                  <a:srgbClr val="F8FAFC"/>
                </a:solidFill>
                <a:latin typeface="Aptos"/>
              </a:defRPr>
            </a:pPr>
            <a:r>
              <a:t>• No errors in this displayed set.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892040"/>
            <a:ext cx="3474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ABB8CD"/>
                </a:solidFill>
                <a:latin typeface="Aptos"/>
              </a:rPr>
              <a:t>Evaluation set: n = 60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0CDDC"/>
                </a:solidFill>
                <a:latin typeface="Aptos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246888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Limitations &amp; Future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" y="804672"/>
            <a:ext cx="10241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BB8CD"/>
                </a:solidFill>
                <a:latin typeface="Aptos"/>
              </a:rPr>
              <a:t>What should be improved or tested next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115568"/>
            <a:ext cx="1005840" cy="45720"/>
          </a:xfrm>
          <a:prstGeom prst="rect">
            <a:avLst/>
          </a:prstGeom>
          <a:solidFill>
            <a:srgbClr val="276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508760"/>
            <a:ext cx="5166360" cy="4389120"/>
          </a:xfrm>
          <a:prstGeom prst="roundRect">
            <a:avLst/>
          </a:prstGeom>
          <a:solidFill>
            <a:srgbClr val="192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28800"/>
            <a:ext cx="4480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EE5B5B"/>
                </a:solidFill>
                <a:latin typeface="Aptos"/>
              </a:rPr>
              <a:t>LIMITATIONS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331720"/>
            <a:ext cx="4526280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50">
                <a:solidFill>
                  <a:srgbClr val="F8FAFC"/>
                </a:solidFill>
                <a:latin typeface="Aptos"/>
              </a:defRPr>
            </a:pPr>
            <a:r>
              <a:t>• Current evaluation set is relatively small.</a:t>
            </a:r>
          </a:p>
          <a:p>
            <a:pPr>
              <a:spcAft>
                <a:spcPts val="900"/>
              </a:spcAft>
              <a:defRPr sz="1550">
                <a:solidFill>
                  <a:srgbClr val="F8FAFC"/>
                </a:solidFill>
                <a:latin typeface="Aptos"/>
              </a:defRPr>
            </a:pPr>
            <a:r>
              <a:t>• Larger independent datasets are needed.</a:t>
            </a:r>
          </a:p>
          <a:p>
            <a:pPr>
              <a:spcAft>
                <a:spcPts val="900"/>
              </a:spcAft>
              <a:defRPr sz="1550">
                <a:solidFill>
                  <a:srgbClr val="F8FAFC"/>
                </a:solidFill>
                <a:latin typeface="Aptos"/>
              </a:defRPr>
            </a:pPr>
            <a:r>
              <a:t>• Synthetic-data quality needs more extensive validation.</a:t>
            </a:r>
          </a:p>
          <a:p>
            <a:pPr>
              <a:spcAft>
                <a:spcPts val="900"/>
              </a:spcAft>
              <a:defRPr sz="1550">
                <a:solidFill>
                  <a:srgbClr val="F8FAFC"/>
                </a:solidFill>
                <a:latin typeface="Aptos"/>
              </a:defRPr>
            </a:pPr>
            <a:r>
              <a:t>• A perfect score on a small evaluation set should not be generalized to real-world performance.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508760"/>
            <a:ext cx="5349240" cy="4389120"/>
          </a:xfrm>
          <a:prstGeom prst="roundRect">
            <a:avLst/>
          </a:prstGeom>
          <a:solidFill>
            <a:srgbClr val="192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82880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AC47D"/>
                </a:solidFill>
                <a:latin typeface="Aptos"/>
              </a:rPr>
              <a:t>FUTURE SCOPE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331720"/>
            <a:ext cx="4572000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50">
                <a:solidFill>
                  <a:srgbClr val="F8FAFC"/>
                </a:solidFill>
                <a:latin typeface="Aptos"/>
              </a:defRPr>
            </a:pPr>
            <a:r>
              <a:t>• Test on larger, independent email datasets.</a:t>
            </a:r>
          </a:p>
          <a:p>
            <a:pPr>
              <a:spcAft>
                <a:spcPts val="900"/>
              </a:spcAft>
              <a:defRPr sz="1550">
                <a:solidFill>
                  <a:srgbClr val="F8FAFC"/>
                </a:solidFill>
                <a:latin typeface="Aptos"/>
              </a:defRPr>
            </a:pPr>
            <a:r>
              <a:t>• Compare real-only vs. augmented training.</a:t>
            </a:r>
          </a:p>
          <a:p>
            <a:pPr>
              <a:spcAft>
                <a:spcPts val="900"/>
              </a:spcAft>
              <a:defRPr sz="1550">
                <a:solidFill>
                  <a:srgbClr val="F8FAFC"/>
                </a:solidFill>
                <a:latin typeface="Aptos"/>
              </a:defRPr>
            </a:pPr>
            <a:r>
              <a:t>• Explore transformer-based classifiers.</a:t>
            </a:r>
          </a:p>
          <a:p>
            <a:pPr>
              <a:spcAft>
                <a:spcPts val="900"/>
              </a:spcAft>
              <a:defRPr sz="1550">
                <a:solidFill>
                  <a:srgbClr val="F8FAFC"/>
                </a:solidFill>
                <a:latin typeface="Aptos"/>
              </a:defRPr>
            </a:pPr>
            <a:r>
              <a:t>• Evaluate synthetic data with systematic quality checks.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0CDDC"/>
                </a:solidFill>
                <a:latin typeface="Aptos"/>
              </a:rP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98755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8FAFC"/>
                </a:solidFill>
                <a:latin typeface="Aptos"/>
              </a:rPr>
              <a:t>Conclusion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240280"/>
            <a:ext cx="10789920" cy="2240280"/>
          </a:xfrm>
          <a:prstGeom prst="roundRect">
            <a:avLst/>
          </a:prstGeom>
          <a:solidFill>
            <a:srgbClr val="276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651760"/>
            <a:ext cx="1005840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F8FAFC"/>
                </a:solidFill>
                <a:latin typeface="Aptos"/>
              </a:rPr>
              <a:t>SpamShield demonstrates an end-to-end NLP and Generative AI workflow combining T5-based synthetic email generation, TF-IDF, Logistic Regression, evaluation, and Streamlit.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983480"/>
            <a:ext cx="10424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5BE42"/>
                </a:solidFill>
                <a:latin typeface="Aptos"/>
              </a:rPr>
              <a:t>The displayed evaluation achieved 100% on 60 emails; further testing is needed to assess broader generalization.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5989320"/>
            <a:ext cx="3017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30CDDC"/>
                </a:solidFill>
                <a:latin typeface="Aptos"/>
              </a:rPr>
              <a:t>THANK YOU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510528"/>
            <a:ext cx="5029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BB8CD"/>
                </a:solidFill>
                <a:latin typeface="Aptos"/>
              </a:rPr>
              <a:t>SpamShield • Internship Project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510528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ABB8CD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